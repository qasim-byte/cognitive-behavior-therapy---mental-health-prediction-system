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h7iQ56YL3uKn/Nh81ghF/m7oul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54dfcd834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d54dfcd834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54dfcd834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d54dfcd834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54dfcd834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d54dfcd834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54dfcd834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d54dfcd834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1524000" y="0"/>
            <a:ext cx="9603346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E5C8"/>
              </a:buClr>
              <a:buSzPts val="6000"/>
              <a:buFont typeface="Calibri"/>
              <a:buNone/>
              <a:defRPr sz="6000">
                <a:solidFill>
                  <a:srgbClr val="DEE5C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6709892" y="1981083"/>
            <a:ext cx="4417453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1223492" y="6498019"/>
            <a:ext cx="28913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4648200" y="6498019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8077200" y="6498019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838200" y="1825625"/>
            <a:ext cx="484632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2400"/>
              <a:buChar char="▪"/>
              <a:defRPr sz="2400"/>
            </a:lvl2pPr>
            <a:lvl3pPr indent="-355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2900" lvl="3" marL="1828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800"/>
              <a:buChar char="▪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800"/>
              <a:buChar char="▪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4" name="Google Shape;24;p15"/>
          <p:cNvSpPr txBox="1"/>
          <p:nvPr>
            <p:ph idx="2" type="body"/>
          </p:nvPr>
        </p:nvSpPr>
        <p:spPr>
          <a:xfrm>
            <a:off x="6016086" y="1825625"/>
            <a:ext cx="484632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2400"/>
              <a:buChar char="▪"/>
              <a:defRPr sz="2400"/>
            </a:lvl2pPr>
            <a:lvl3pPr indent="-355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2900" lvl="3" marL="1828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800"/>
              <a:buChar char="▪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800"/>
              <a:buChar char="▪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5" name="Google Shape;25;p15"/>
          <p:cNvSpPr txBox="1"/>
          <p:nvPr>
            <p:ph idx="10" type="dt"/>
          </p:nvPr>
        </p:nvSpPr>
        <p:spPr>
          <a:xfrm>
            <a:off x="1223492" y="6498019"/>
            <a:ext cx="28913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1" type="ftr"/>
          </p:nvPr>
        </p:nvSpPr>
        <p:spPr>
          <a:xfrm>
            <a:off x="4648200" y="6498019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2" type="sldNum"/>
          </p:nvPr>
        </p:nvSpPr>
        <p:spPr>
          <a:xfrm>
            <a:off x="8077200" y="6498019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0" type="dt"/>
          </p:nvPr>
        </p:nvSpPr>
        <p:spPr>
          <a:xfrm>
            <a:off x="1223492" y="6498019"/>
            <a:ext cx="28913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1" type="ftr"/>
          </p:nvPr>
        </p:nvSpPr>
        <p:spPr>
          <a:xfrm>
            <a:off x="4648200" y="6498019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2" type="sldNum"/>
          </p:nvPr>
        </p:nvSpPr>
        <p:spPr>
          <a:xfrm>
            <a:off x="8077200" y="6498019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7"/>
          <p:cNvSpPr txBox="1"/>
          <p:nvPr>
            <p:ph type="title"/>
          </p:nvPr>
        </p:nvSpPr>
        <p:spPr>
          <a:xfrm>
            <a:off x="839788" y="1621826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1" type="body"/>
          </p:nvPr>
        </p:nvSpPr>
        <p:spPr>
          <a:xfrm>
            <a:off x="5183188" y="1683834"/>
            <a:ext cx="5675312" cy="44002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SzPts val="3200"/>
              <a:buChar char="▪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SzPts val="2800"/>
              <a:buChar char="▪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2400"/>
              <a:buChar char="▪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7" name="Google Shape;37;p17"/>
          <p:cNvSpPr txBox="1"/>
          <p:nvPr>
            <p:ph idx="2" type="body"/>
          </p:nvPr>
        </p:nvSpPr>
        <p:spPr>
          <a:xfrm>
            <a:off x="839788" y="3300761"/>
            <a:ext cx="3932237" cy="2783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8" name="Google Shape;38;p17"/>
          <p:cNvSpPr txBox="1"/>
          <p:nvPr>
            <p:ph idx="10" type="dt"/>
          </p:nvPr>
        </p:nvSpPr>
        <p:spPr>
          <a:xfrm>
            <a:off x="1223492" y="6498019"/>
            <a:ext cx="28913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1" type="ftr"/>
          </p:nvPr>
        </p:nvSpPr>
        <p:spPr>
          <a:xfrm>
            <a:off x="4648200" y="6498019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2" type="sldNum"/>
          </p:nvPr>
        </p:nvSpPr>
        <p:spPr>
          <a:xfrm>
            <a:off x="8077200" y="6498019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/>
          <p:nvPr>
            <p:ph type="title"/>
          </p:nvPr>
        </p:nvSpPr>
        <p:spPr>
          <a:xfrm>
            <a:off x="839788" y="1594624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An empty placeholder to add an image. Click on the placeholder and select the image that you wish to add" id="43" name="Google Shape;43;p18"/>
          <p:cNvSpPr/>
          <p:nvPr>
            <p:ph idx="2" type="pic"/>
          </p:nvPr>
        </p:nvSpPr>
        <p:spPr>
          <a:xfrm>
            <a:off x="5183188" y="1594624"/>
            <a:ext cx="5675312" cy="4500602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18"/>
          <p:cNvSpPr txBox="1"/>
          <p:nvPr>
            <p:ph idx="1" type="body"/>
          </p:nvPr>
        </p:nvSpPr>
        <p:spPr>
          <a:xfrm>
            <a:off x="839788" y="3323062"/>
            <a:ext cx="3932237" cy="26762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5" name="Google Shape;45;p18"/>
          <p:cNvSpPr txBox="1"/>
          <p:nvPr>
            <p:ph idx="10" type="dt"/>
          </p:nvPr>
        </p:nvSpPr>
        <p:spPr>
          <a:xfrm>
            <a:off x="1223492" y="6498019"/>
            <a:ext cx="28913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8"/>
          <p:cNvSpPr txBox="1"/>
          <p:nvPr>
            <p:ph idx="11" type="ftr"/>
          </p:nvPr>
        </p:nvSpPr>
        <p:spPr>
          <a:xfrm>
            <a:off x="4648200" y="6498019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2" type="sldNum"/>
          </p:nvPr>
        </p:nvSpPr>
        <p:spPr>
          <a:xfrm>
            <a:off x="8077200" y="6498019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 txBox="1"/>
          <p:nvPr>
            <p:ph type="title"/>
          </p:nvPr>
        </p:nvSpPr>
        <p:spPr>
          <a:xfrm>
            <a:off x="831850" y="1709738"/>
            <a:ext cx="10026650" cy="2862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6666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Calibri"/>
              <a:buNone/>
              <a:defRPr sz="6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9"/>
          <p:cNvSpPr txBox="1"/>
          <p:nvPr>
            <p:ph idx="1" type="body"/>
          </p:nvPr>
        </p:nvSpPr>
        <p:spPr>
          <a:xfrm>
            <a:off x="831850" y="4589463"/>
            <a:ext cx="1002665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2400"/>
              <a:buNone/>
              <a:defRPr sz="240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600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1223492" y="6498019"/>
            <a:ext cx="28913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4648200" y="6498019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8077200" y="6498019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841248" y="365760"/>
            <a:ext cx="105156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831850" y="1755057"/>
            <a:ext cx="4846320" cy="5965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831850" y="2418735"/>
            <a:ext cx="4846320" cy="37534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8" name="Google Shape;58;p20"/>
          <p:cNvSpPr txBox="1"/>
          <p:nvPr>
            <p:ph idx="3" type="body"/>
          </p:nvPr>
        </p:nvSpPr>
        <p:spPr>
          <a:xfrm>
            <a:off x="6011247" y="1755057"/>
            <a:ext cx="4846320" cy="5965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20"/>
          <p:cNvSpPr txBox="1"/>
          <p:nvPr>
            <p:ph idx="4" type="body"/>
          </p:nvPr>
        </p:nvSpPr>
        <p:spPr>
          <a:xfrm>
            <a:off x="6011247" y="2418735"/>
            <a:ext cx="4846320" cy="37534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0" name="Google Shape;60;p20"/>
          <p:cNvSpPr txBox="1"/>
          <p:nvPr>
            <p:ph idx="10" type="dt"/>
          </p:nvPr>
        </p:nvSpPr>
        <p:spPr>
          <a:xfrm>
            <a:off x="1223492" y="6498019"/>
            <a:ext cx="28913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0"/>
          <p:cNvSpPr txBox="1"/>
          <p:nvPr>
            <p:ph idx="11" type="ftr"/>
          </p:nvPr>
        </p:nvSpPr>
        <p:spPr>
          <a:xfrm>
            <a:off x="4648200" y="6498019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0"/>
          <p:cNvSpPr txBox="1"/>
          <p:nvPr>
            <p:ph idx="12" type="sldNum"/>
          </p:nvPr>
        </p:nvSpPr>
        <p:spPr>
          <a:xfrm>
            <a:off x="8077200" y="6498019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1223492" y="6498019"/>
            <a:ext cx="28913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4648200" y="6498019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8077200" y="6498019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idx="10" type="dt"/>
          </p:nvPr>
        </p:nvSpPr>
        <p:spPr>
          <a:xfrm>
            <a:off x="1223492" y="6498019"/>
            <a:ext cx="28913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1" type="ftr"/>
          </p:nvPr>
        </p:nvSpPr>
        <p:spPr>
          <a:xfrm>
            <a:off x="4648200" y="6498019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2" type="sldNum"/>
          </p:nvPr>
        </p:nvSpPr>
        <p:spPr>
          <a:xfrm>
            <a:off x="8077200" y="6498019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" type="body"/>
          </p:nvPr>
        </p:nvSpPr>
        <p:spPr>
          <a:xfrm rot="5400000">
            <a:off x="3691195" y="-1027369"/>
            <a:ext cx="4351338" cy="100573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0" type="dt"/>
          </p:nvPr>
        </p:nvSpPr>
        <p:spPr>
          <a:xfrm>
            <a:off x="1223492" y="6498019"/>
            <a:ext cx="28913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1" type="ftr"/>
          </p:nvPr>
        </p:nvSpPr>
        <p:spPr>
          <a:xfrm>
            <a:off x="4648200" y="6498019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2" type="sldNum"/>
          </p:nvPr>
        </p:nvSpPr>
        <p:spPr>
          <a:xfrm>
            <a:off x="8077200" y="6498019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/>
          <p:nvPr>
            <p:ph type="title"/>
          </p:nvPr>
        </p:nvSpPr>
        <p:spPr>
          <a:xfrm rot="5400000">
            <a:off x="7247083" y="2070245"/>
            <a:ext cx="5584535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1" type="body"/>
          </p:nvPr>
        </p:nvSpPr>
        <p:spPr>
          <a:xfrm rot="5400000">
            <a:off x="1913083" y="-482455"/>
            <a:ext cx="5584535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0" type="dt"/>
          </p:nvPr>
        </p:nvSpPr>
        <p:spPr>
          <a:xfrm>
            <a:off x="1223492" y="6498019"/>
            <a:ext cx="28913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1" type="ftr"/>
          </p:nvPr>
        </p:nvSpPr>
        <p:spPr>
          <a:xfrm>
            <a:off x="4648200" y="6498019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2" type="sldNum"/>
          </p:nvPr>
        </p:nvSpPr>
        <p:spPr>
          <a:xfrm>
            <a:off x="8077200" y="6498019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1223492" y="6498019"/>
            <a:ext cx="28913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648200" y="6498019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077200" y="6498019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6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0"/>
            <a:ext cx="9603300" cy="1407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US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Mental Health Risk Prediction Model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6905400" y="1971000"/>
            <a:ext cx="3953100" cy="29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lnSpc>
                <a:spcPct val="90000"/>
              </a:lnSpc>
              <a:spcBef>
                <a:spcPts val="666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666"/>
              </a:spcBef>
              <a:spcAft>
                <a:spcPts val="0"/>
              </a:spcAft>
              <a:buSzPts val="600"/>
              <a:buNone/>
            </a:pPr>
            <a:r>
              <a:rPr b="1" lang="en-US" sz="12185">
                <a:latin typeface="Times New Roman"/>
                <a:ea typeface="Times New Roman"/>
                <a:cs typeface="Times New Roman"/>
                <a:sym typeface="Times New Roman"/>
              </a:rPr>
              <a:t>Course Name:</a:t>
            </a:r>
            <a:r>
              <a:rPr lang="en-US" sz="1218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18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666"/>
              </a:spcBef>
              <a:spcAft>
                <a:spcPts val="0"/>
              </a:spcAft>
              <a:buSzPts val="600"/>
              <a:buNone/>
            </a:pPr>
            <a:r>
              <a:rPr lang="en-US" sz="12185">
                <a:latin typeface="Times New Roman"/>
                <a:ea typeface="Times New Roman"/>
                <a:cs typeface="Times New Roman"/>
                <a:sym typeface="Times New Roman"/>
              </a:rPr>
              <a:t>Introduction To Data Science</a:t>
            </a:r>
            <a:endParaRPr sz="12185"/>
          </a:p>
          <a:p>
            <a:pPr indent="0" lvl="0" marL="0" rtl="0" algn="l">
              <a:lnSpc>
                <a:spcPct val="90000"/>
              </a:lnSpc>
              <a:spcBef>
                <a:spcPts val="666"/>
              </a:spcBef>
              <a:spcAft>
                <a:spcPts val="0"/>
              </a:spcAft>
              <a:buSzPct val="33766"/>
              <a:buNone/>
            </a:pPr>
            <a:r>
              <a:rPr b="1" lang="en-US" sz="7108">
                <a:latin typeface="Times New Roman"/>
                <a:ea typeface="Times New Roman"/>
                <a:cs typeface="Times New Roman"/>
                <a:sym typeface="Times New Roman"/>
              </a:rPr>
              <a:t>Group Members:</a:t>
            </a:r>
            <a:endParaRPr b="1" sz="7108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735" lvl="0" marL="457200" rtl="0" algn="l">
              <a:lnSpc>
                <a:spcPct val="115000"/>
              </a:lnSpc>
              <a:spcBef>
                <a:spcPts val="666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6308">
                <a:latin typeface="Times New Roman"/>
                <a:ea typeface="Times New Roman"/>
                <a:cs typeface="Times New Roman"/>
                <a:sym typeface="Times New Roman"/>
              </a:rPr>
              <a:t>Qasim Ashfaq (BSAI-030)</a:t>
            </a:r>
            <a:endParaRPr sz="6308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73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6308">
                <a:latin typeface="Times New Roman"/>
                <a:ea typeface="Times New Roman"/>
                <a:cs typeface="Times New Roman"/>
                <a:sym typeface="Times New Roman"/>
              </a:rPr>
              <a:t>Nazim Raza (BSDS-014)</a:t>
            </a:r>
            <a:endParaRPr sz="6308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73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6308">
                <a:latin typeface="Times New Roman"/>
                <a:ea typeface="Times New Roman"/>
                <a:cs typeface="Times New Roman"/>
                <a:sym typeface="Times New Roman"/>
              </a:rPr>
              <a:t>Khateeba Zainab(BSDS-012)</a:t>
            </a:r>
            <a:endParaRPr sz="6308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73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6308">
                <a:latin typeface="Times New Roman"/>
                <a:ea typeface="Times New Roman"/>
                <a:cs typeface="Times New Roman"/>
                <a:sym typeface="Times New Roman"/>
              </a:rPr>
              <a:t>Manahal Nadar (BSAI-011)</a:t>
            </a:r>
            <a:endParaRPr sz="6308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73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6308">
                <a:latin typeface="Times New Roman"/>
                <a:ea typeface="Times New Roman"/>
                <a:cs typeface="Times New Roman"/>
                <a:sym typeface="Times New Roman"/>
              </a:rPr>
              <a:t>Safa Khurshid (BSAI-016) </a:t>
            </a:r>
            <a:endParaRPr sz="6308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73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6308">
                <a:latin typeface="Times New Roman"/>
                <a:ea typeface="Times New Roman"/>
                <a:cs typeface="Times New Roman"/>
                <a:sym typeface="Times New Roman"/>
              </a:rPr>
              <a:t>Abdullah (BSAI-020)</a:t>
            </a:r>
            <a:endParaRPr sz="6308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66"/>
              </a:spcBef>
              <a:spcAft>
                <a:spcPts val="0"/>
              </a:spcAft>
              <a:buNone/>
            </a:pPr>
            <a:r>
              <a:t/>
            </a:r>
            <a:endParaRPr sz="630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</p:txBody>
      </p:sp>
      <p:grpSp>
        <p:nvGrpSpPr>
          <p:cNvPr id="95" name="Google Shape;95;p2"/>
          <p:cNvGrpSpPr/>
          <p:nvPr/>
        </p:nvGrpSpPr>
        <p:grpSpPr>
          <a:xfrm>
            <a:off x="1364816" y="1112480"/>
            <a:ext cx="9496858" cy="5541091"/>
            <a:chOff x="-4651809" y="-713145"/>
            <a:chExt cx="9496858" cy="5541091"/>
          </a:xfrm>
        </p:grpSpPr>
        <p:sp>
          <p:nvSpPr>
            <p:cNvPr id="96" name="Google Shape;96;p2"/>
            <p:cNvSpPr/>
            <p:nvPr/>
          </p:nvSpPr>
          <p:spPr>
            <a:xfrm>
              <a:off x="-4651809" y="-713145"/>
              <a:ext cx="5541091" cy="5541091"/>
            </a:xfrm>
            <a:prstGeom prst="blockArc">
              <a:avLst>
                <a:gd fmla="val 18900000" name="adj1"/>
                <a:gd fmla="val 2700000" name="adj2"/>
                <a:gd fmla="val 390" name="adj3"/>
              </a:avLst>
            </a:prstGeom>
            <a:noFill/>
            <a:ln cap="flat" cmpd="sng" w="12700">
              <a:solidFill>
                <a:srgbClr val="828F7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608871" y="324460"/>
              <a:ext cx="4217131" cy="82296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95A38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608871" y="324460"/>
              <a:ext cx="4217131" cy="8229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653225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imes New Roman"/>
                <a:buNone/>
              </a:pPr>
              <a:r>
                <a:rPr lang="en-US" sz="1800">
                  <a:solidFill>
                    <a:srgbClr val="274E1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Predicts mental health risk levels using behavioral + demographic indicators</a:t>
              </a:r>
              <a:endParaRPr>
                <a:solidFill>
                  <a:srgbClr val="274E13"/>
                </a:solidFill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79377" y="235973"/>
              <a:ext cx="1028700" cy="10287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A5B49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910412" y="1645920"/>
              <a:ext cx="3917985" cy="82296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95A38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2"/>
            <p:cNvSpPr txBox="1"/>
            <p:nvPr/>
          </p:nvSpPr>
          <p:spPr>
            <a:xfrm>
              <a:off x="910400" y="1711825"/>
              <a:ext cx="3918000" cy="61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653225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imes New Roman"/>
                <a:buNone/>
              </a:pPr>
              <a:r>
                <a:rPr i="0" lang="en-US" sz="1800" u="none" cap="none" strike="noStrike">
                  <a:solidFill>
                    <a:srgbClr val="274E1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Implements supervised learning with ensemble methods (Random Forest</a:t>
              </a:r>
              <a:r>
                <a:rPr lang="en-US" sz="1800">
                  <a:solidFill>
                    <a:srgbClr val="274E1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Classifier.</a:t>
              </a:r>
              <a:endParaRPr sz="1800">
                <a:solidFill>
                  <a:srgbClr val="274E1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199406" y="1543049"/>
              <a:ext cx="1028700" cy="10287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A5B49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627918" y="2880359"/>
              <a:ext cx="4217131" cy="82296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95A38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2"/>
            <p:cNvSpPr txBox="1"/>
            <p:nvPr/>
          </p:nvSpPr>
          <p:spPr>
            <a:xfrm>
              <a:off x="627918" y="2880359"/>
              <a:ext cx="4217131" cy="8229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653225" spcFirstLastPara="1" rIns="457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274E1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Deployed using Flask for real-time inference</a:t>
              </a:r>
              <a:endParaRPr sz="1800">
                <a:solidFill>
                  <a:srgbClr val="274E1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57579" y="2777490"/>
              <a:ext cx="1028700" cy="10287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A5B49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" name="Google Shape;106;p2"/>
          <p:cNvSpPr txBox="1"/>
          <p:nvPr>
            <p:ph idx="1" type="body"/>
          </p:nvPr>
        </p:nvSpPr>
        <p:spPr>
          <a:xfrm>
            <a:off x="1001250" y="1806875"/>
            <a:ext cx="4846200" cy="47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1100"/>
              <a:buNone/>
            </a:pPr>
            <a:r>
              <a:rPr b="1" lang="en-US" sz="2300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b="1"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➢"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Mental health issues are often underreported and detected late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➢"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Early symptoms are usually subtle and non-clinical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➢"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Educational and workplace environments lack proactive detection tools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➢"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Traditional assessment methods are: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subjective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time-consuming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not scalable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There is a need for a </a:t>
            </a: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data-driven predictive system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 that identifies risk early using behavioral patterns.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6479458" y="2257384"/>
            <a:ext cx="88490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6479458" y="4797561"/>
            <a:ext cx="88490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6479458" y="3612474"/>
            <a:ext cx="88490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0" name="Google Shape;110;p2"/>
          <p:cNvCxnSpPr/>
          <p:nvPr/>
        </p:nvCxnSpPr>
        <p:spPr>
          <a:xfrm>
            <a:off x="8737052" y="5526122"/>
            <a:ext cx="0" cy="414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11" name="Google Shape;111;p2"/>
          <p:cNvSpPr/>
          <p:nvPr/>
        </p:nvSpPr>
        <p:spPr>
          <a:xfrm>
            <a:off x="7364350" y="5940425"/>
            <a:ext cx="3088500" cy="6693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54C3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Built using: Python, Flask, Scikit-learn, Random Forest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/>
          </a:p>
        </p:txBody>
      </p:sp>
      <p:sp>
        <p:nvSpPr>
          <p:cNvPr id="117" name="Google Shape;11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primary objectives of this system are: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➢"/>
            </a:pP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 machine learning model for mental health risk classification</a:t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➢"/>
            </a:pP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Categorize individuals into:</a:t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Mild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Moderate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Severe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➢"/>
            </a:pP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Provide:</a:t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Domain-wise psychological analysis (emotional, social, stress, outlook)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Personalized intervention recommendations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Region-based mental health support resources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➢"/>
            </a:pP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 the model in a user-accessible web application</a:t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 txBox="1"/>
          <p:nvPr>
            <p:ph type="title"/>
          </p:nvPr>
        </p:nvSpPr>
        <p:spPr>
          <a:xfrm>
            <a:off x="922100" y="1815425"/>
            <a:ext cx="39321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 sz="2110">
                <a:latin typeface="Times New Roman"/>
                <a:ea typeface="Times New Roman"/>
                <a:cs typeface="Times New Roman"/>
                <a:sym typeface="Times New Roman"/>
              </a:rPr>
              <a:t>The system follows a structured machine learning pipeline:</a:t>
            </a:r>
            <a:endParaRPr b="1" sz="211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4"/>
          <p:cNvSpPr txBox="1"/>
          <p:nvPr>
            <p:ph idx="1" type="body"/>
          </p:nvPr>
        </p:nvSpPr>
        <p:spPr>
          <a:xfrm>
            <a:off x="1162775" y="2021275"/>
            <a:ext cx="5675400" cy="40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➢"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Data Collection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Two heterogeneous datasets combined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➢"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Data Preprocessing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Cleaning inconsistent categorical values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Handling missing values using mapping strategies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Encoding categorical variables into numerical format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➢"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Feature Engineering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Psychological feature construction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Interaction-based feature generation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➢"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Model Training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Random Forest Classifier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Stratified train-test split (80/20)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➢"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Deployment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Flask-based web application for real-time predictions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b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776748" y="550606"/>
            <a:ext cx="10648200" cy="835800"/>
          </a:xfrm>
          <a:prstGeom prst="rect">
            <a:avLst/>
          </a:prstGeom>
          <a:solidFill>
            <a:srgbClr val="DAE0D2"/>
          </a:solidFill>
          <a:ln cap="flat" cmpd="sng" w="12700">
            <a:solidFill>
              <a:srgbClr val="454C3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 txBox="1"/>
          <p:nvPr>
            <p:ph type="title"/>
          </p:nvPr>
        </p:nvSpPr>
        <p:spPr>
          <a:xfrm>
            <a:off x="1028075" y="3750125"/>
            <a:ext cx="3932100" cy="202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Two datasets were integrated for training: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1. OSMI Mental Health in Tech Survey</a:t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Workplace mental health dataset.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Contains behavioral and organizational indicators.</a:t>
            </a:r>
            <a:endParaRPr sz="1500">
              <a:solidFill>
                <a:srgbClr val="B58900"/>
              </a:solidFill>
              <a:highlight>
                <a:srgbClr val="FDF6E3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292,364 rows and 27 columns.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2. Mental Health Behavioral Dataset from Kaggle</a:t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Student-oriented lifestyle and psychological survey data.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Includes emotional, academic, and social parameters.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1,259 rows and 17 columns.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5"/>
          <p:cNvSpPr txBox="1"/>
          <p:nvPr>
            <p:ph idx="1" type="body"/>
          </p:nvPr>
        </p:nvSpPr>
        <p:spPr>
          <a:xfrm>
            <a:off x="6600863" y="1838884"/>
            <a:ext cx="5675400" cy="44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700">
                <a:latin typeface="Times New Roman"/>
                <a:ea typeface="Times New Roman"/>
                <a:cs typeface="Times New Roman"/>
                <a:sym typeface="Times New Roman"/>
              </a:rPr>
              <a:t>Data Integration Strategy: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Times New Roman"/>
              <a:buChar char="➢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Feature alignment across datasets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➢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Standardization of categorical variables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➢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Balanced merging to improve generalization.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776748" y="550606"/>
            <a:ext cx="10648336" cy="835742"/>
          </a:xfrm>
          <a:prstGeom prst="rect">
            <a:avLst/>
          </a:prstGeom>
          <a:solidFill>
            <a:srgbClr val="DAE0D2"/>
          </a:solidFill>
          <a:ln cap="flat" cmpd="sng" w="12700">
            <a:solidFill>
              <a:srgbClr val="454C3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Used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 txBox="1"/>
          <p:nvPr>
            <p:ph type="title"/>
          </p:nvPr>
        </p:nvSpPr>
        <p:spPr>
          <a:xfrm>
            <a:off x="6592202" y="2846150"/>
            <a:ext cx="4636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-316706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388"/>
              <a:buFont typeface="Arial"/>
              <a:buChar char="➢"/>
            </a:pPr>
            <a:r>
              <a:rPr b="1" lang="en-US" sz="1825">
                <a:latin typeface="Times New Roman"/>
                <a:ea typeface="Times New Roman"/>
                <a:cs typeface="Times New Roman"/>
                <a:sym typeface="Times New Roman"/>
              </a:rPr>
              <a:t>Missing value handling:</a:t>
            </a:r>
            <a:endParaRPr b="1" sz="182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706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88"/>
              <a:buChar char="○"/>
            </a:pPr>
            <a:r>
              <a:rPr lang="en-US" sz="18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Mode-based and rule-based imputation</a:t>
            </a:r>
            <a:endParaRPr sz="182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706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88"/>
              <a:buFont typeface="Arial"/>
              <a:buChar char="➢"/>
            </a:pPr>
            <a:r>
              <a:rPr b="1" lang="en-US" sz="1825">
                <a:latin typeface="Times New Roman"/>
                <a:ea typeface="Times New Roman"/>
                <a:cs typeface="Times New Roman"/>
                <a:sym typeface="Times New Roman"/>
              </a:rPr>
              <a:t>Conversion of ordinal responses into numerical scales (0–1–2)</a:t>
            </a:r>
            <a:endParaRPr b="1" sz="182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2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6"/>
          <p:cNvSpPr txBox="1"/>
          <p:nvPr>
            <p:ph idx="1" type="body"/>
          </p:nvPr>
        </p:nvSpPr>
        <p:spPr>
          <a:xfrm>
            <a:off x="861138" y="1770062"/>
            <a:ext cx="3932100" cy="26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-US" sz="1825">
                <a:latin typeface="Times New Roman"/>
                <a:ea typeface="Times New Roman"/>
                <a:cs typeface="Times New Roman"/>
                <a:sym typeface="Times New Roman"/>
              </a:rPr>
              <a:t>Key preprocessing operations included:</a:t>
            </a:r>
            <a:endParaRPr sz="182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706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88"/>
              <a:buFont typeface="Arial"/>
              <a:buChar char="➢"/>
            </a:pPr>
            <a:r>
              <a:rPr b="1" lang="en-US" sz="1825">
                <a:latin typeface="Times New Roman"/>
                <a:ea typeface="Times New Roman"/>
                <a:cs typeface="Times New Roman"/>
                <a:sym typeface="Times New Roman"/>
              </a:rPr>
              <a:t>Standardization of categorical fields:</a:t>
            </a:r>
            <a:endParaRPr b="1" sz="182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706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88"/>
              <a:buFont typeface="Arial"/>
              <a:buChar char="○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Gender encoded using Label Encoding (Male / Female / Other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)</a:t>
            </a:r>
            <a:endParaRPr sz="182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706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88"/>
              <a:buFont typeface="Arial"/>
              <a:buChar char="○"/>
            </a:pPr>
            <a:r>
              <a:rPr lang="en-US" sz="1825">
                <a:latin typeface="Times New Roman"/>
                <a:ea typeface="Times New Roman"/>
                <a:cs typeface="Times New Roman"/>
                <a:sym typeface="Times New Roman"/>
              </a:rPr>
              <a:t>Country encoded using predefined mapping</a:t>
            </a:r>
            <a:endParaRPr sz="182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706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88"/>
              <a:buFont typeface="Arial"/>
              <a:buChar char="➢"/>
            </a:pPr>
            <a:r>
              <a:rPr b="1" lang="en-US" sz="1825">
                <a:latin typeface="Times New Roman"/>
                <a:ea typeface="Times New Roman"/>
                <a:cs typeface="Times New Roman"/>
                <a:sym typeface="Times New Roman"/>
              </a:rPr>
              <a:t>Age processing:</a:t>
            </a:r>
            <a:endParaRPr b="1" sz="182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706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88"/>
              <a:buFont typeface="Arial"/>
              <a:buChar char="○"/>
            </a:pPr>
            <a:r>
              <a:rPr lang="en-US" sz="1825">
                <a:latin typeface="Times New Roman"/>
                <a:ea typeface="Times New Roman"/>
                <a:cs typeface="Times New Roman"/>
                <a:sym typeface="Times New Roman"/>
              </a:rPr>
              <a:t>Outlier removal</a:t>
            </a:r>
            <a:endParaRPr sz="182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706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88"/>
              <a:buFont typeface="Arial"/>
              <a:buChar char="○"/>
            </a:pPr>
            <a:r>
              <a:rPr lang="en-US" sz="1825">
                <a:latin typeface="Times New Roman"/>
                <a:ea typeface="Times New Roman"/>
                <a:cs typeface="Times New Roman"/>
                <a:sym typeface="Times New Roman"/>
              </a:rPr>
              <a:t>Age bucketing into meaningful groups</a:t>
            </a:r>
            <a:endParaRPr sz="182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2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776748" y="550606"/>
            <a:ext cx="10648336" cy="835742"/>
          </a:xfrm>
          <a:prstGeom prst="rect">
            <a:avLst/>
          </a:prstGeom>
          <a:solidFill>
            <a:srgbClr val="DAE0D2"/>
          </a:solidFill>
          <a:ln cap="flat" cmpd="sng" w="12700">
            <a:solidFill>
              <a:srgbClr val="454C3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Preprocessing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/>
          <p:cNvSpPr txBox="1"/>
          <p:nvPr>
            <p:ph type="title"/>
          </p:nvPr>
        </p:nvSpPr>
        <p:spPr>
          <a:xfrm>
            <a:off x="6842775" y="2322925"/>
            <a:ext cx="3932100" cy="430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latin typeface="Times New Roman"/>
                <a:ea typeface="Times New Roman"/>
                <a:cs typeface="Times New Roman"/>
                <a:sym typeface="Times New Roman"/>
              </a:rPr>
              <a:t>Interaction Features: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Times New Roman"/>
              <a:buChar char="➢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Stress × Coping into stress_coping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➢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Mood × Social Weakness into mood_social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➢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Stress × Isolation into indoor_stress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➢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Care Awareness × Mental History into care_history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>
                <a:latin typeface="Times New Roman"/>
                <a:ea typeface="Times New Roman"/>
                <a:cs typeface="Times New Roman"/>
                <a:sym typeface="Times New Roman"/>
              </a:rPr>
              <a:t>These features capture nonlinear psychological relationships not visible in raw data.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7"/>
          <p:cNvSpPr txBox="1"/>
          <p:nvPr>
            <p:ph idx="1" type="body"/>
          </p:nvPr>
        </p:nvSpPr>
        <p:spPr>
          <a:xfrm>
            <a:off x="964013" y="1802962"/>
            <a:ext cx="3932100" cy="26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To improve predictive performance, domain-specific features were engineered: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latin typeface="Times New Roman"/>
                <a:ea typeface="Times New Roman"/>
                <a:cs typeface="Times New Roman"/>
                <a:sym typeface="Times New Roman"/>
              </a:rPr>
              <a:t>Psychological Indicators: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➢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Growing Stress Index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➢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Coping Difficulty Level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➢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Social Weakness Score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➢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Mood Instability Index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➢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Work Engagement Level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➢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Isolation Intensity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76748" y="550606"/>
            <a:ext cx="10648200" cy="835800"/>
          </a:xfrm>
          <a:prstGeom prst="rect">
            <a:avLst/>
          </a:prstGeom>
          <a:solidFill>
            <a:srgbClr val="DAE0D2"/>
          </a:solidFill>
          <a:ln cap="flat" cmpd="sng" w="12700">
            <a:solidFill>
              <a:srgbClr val="454C3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Engineering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 txBox="1"/>
          <p:nvPr>
            <p:ph type="title"/>
          </p:nvPr>
        </p:nvSpPr>
        <p:spPr>
          <a:xfrm>
            <a:off x="6820613" y="3428999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Hyperparameters: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n_estimators = 400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max_depth = 20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max_features = sqrt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Random state fixed for reproducibility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8"/>
          <p:cNvSpPr txBox="1"/>
          <p:nvPr>
            <p:ph idx="1" type="body"/>
          </p:nvPr>
        </p:nvSpPr>
        <p:spPr>
          <a:xfrm>
            <a:off x="950538" y="1861087"/>
            <a:ext cx="3932100" cy="26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Algorithm Used: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Random Forest Classifier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Justification: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Handles mixed numerical feature spaces efficiently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Reduces overfitting via ensemble learning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Captures non-linear decision boundaries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Robust to noisy survey-based data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776748" y="550606"/>
            <a:ext cx="10648336" cy="835742"/>
          </a:xfrm>
          <a:prstGeom prst="rect">
            <a:avLst/>
          </a:prstGeom>
          <a:solidFill>
            <a:srgbClr val="DAE0D2"/>
          </a:solidFill>
          <a:ln cap="flat" cmpd="sng" w="12700">
            <a:solidFill>
              <a:srgbClr val="454C3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Selection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"/>
          <p:cNvSpPr txBox="1"/>
          <p:nvPr>
            <p:ph type="title"/>
          </p:nvPr>
        </p:nvSpPr>
        <p:spPr>
          <a:xfrm>
            <a:off x="6926388" y="2159474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latin typeface="Times New Roman"/>
                <a:ea typeface="Times New Roman"/>
                <a:cs typeface="Times New Roman"/>
                <a:sym typeface="Times New Roman"/>
              </a:rPr>
              <a:t>Stratification ensures balanced class distribution during training</a:t>
            </a:r>
            <a:endParaRPr b="1"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9"/>
          <p:cNvSpPr txBox="1"/>
          <p:nvPr>
            <p:ph idx="1" type="body"/>
          </p:nvPr>
        </p:nvSpPr>
        <p:spPr>
          <a:xfrm>
            <a:off x="1316038" y="2470237"/>
            <a:ext cx="3932100" cy="26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702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35"/>
              <a:buFont typeface="Arial"/>
              <a:buChar char="➢"/>
            </a:pPr>
            <a:r>
              <a:rPr b="1" lang="en-US" sz="18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split:</a:t>
            </a:r>
            <a:endParaRPr b="1" sz="183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7023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5"/>
              <a:buFont typeface="Arial"/>
              <a:buChar char="○"/>
            </a:pPr>
            <a:r>
              <a:rPr lang="en-US" sz="18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80% training set</a:t>
            </a:r>
            <a:endParaRPr sz="183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7023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5"/>
              <a:buFont typeface="Arial"/>
              <a:buChar char="○"/>
            </a:pPr>
            <a:r>
              <a:rPr lang="en-US" sz="18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20% testing set (stratified sampling)</a:t>
            </a:r>
            <a:endParaRPr sz="183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702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5"/>
              <a:buFont typeface="Arial"/>
              <a:buChar char="➢"/>
            </a:pPr>
            <a:r>
              <a:rPr b="1" lang="en-US" sz="18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space:</a:t>
            </a:r>
            <a:endParaRPr b="1" sz="183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7023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5"/>
              <a:buFont typeface="Arial"/>
              <a:buChar char="○"/>
            </a:pPr>
            <a:r>
              <a:rPr lang="en-US" sz="18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 engineered features (base + interaction)</a:t>
            </a:r>
            <a:endParaRPr sz="183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702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5"/>
              <a:buFont typeface="Arial"/>
              <a:buChar char="➢"/>
            </a:pPr>
            <a:r>
              <a:rPr b="1" lang="en-US" sz="18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 variable:</a:t>
            </a:r>
            <a:endParaRPr b="1" sz="183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7023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5"/>
              <a:buFont typeface="Arial"/>
              <a:buChar char="○"/>
            </a:pPr>
            <a:r>
              <a:rPr lang="en-US" sz="18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4-class risk classification (0–3)</a:t>
            </a:r>
            <a:endParaRPr sz="183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3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776748" y="550606"/>
            <a:ext cx="10648336" cy="835742"/>
          </a:xfrm>
          <a:prstGeom prst="rect">
            <a:avLst/>
          </a:prstGeom>
          <a:solidFill>
            <a:srgbClr val="DAE0D2"/>
          </a:solidFill>
          <a:ln cap="flat" cmpd="sng" w="12700">
            <a:solidFill>
              <a:srgbClr val="454C3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Process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"/>
          <p:cNvSpPr txBox="1"/>
          <p:nvPr>
            <p:ph type="title"/>
          </p:nvPr>
        </p:nvSpPr>
        <p:spPr>
          <a:xfrm>
            <a:off x="6876013" y="2385224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Accuracy alone is not sufficient; model reliability depends on feature quality and data balance.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10"/>
          <p:cNvSpPr txBox="1"/>
          <p:nvPr>
            <p:ph idx="1" type="body"/>
          </p:nvPr>
        </p:nvSpPr>
        <p:spPr>
          <a:xfrm>
            <a:off x="1415725" y="1930249"/>
            <a:ext cx="3932100" cy="29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Model Accuracy: 98%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Before merging the two datasets the accuracy was 88%. However, by merging the two datasets the accuracy goes to 98%.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Key Observations: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Balanced dataset improves generalization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Ensemble model reduces variance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Performs well on heterogeneous input distributions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776748" y="550606"/>
            <a:ext cx="10648200" cy="835800"/>
          </a:xfrm>
          <a:prstGeom prst="rect">
            <a:avLst/>
          </a:prstGeom>
          <a:solidFill>
            <a:srgbClr val="DAE0D2"/>
          </a:solidFill>
          <a:ln cap="flat" cmpd="sng" w="12700">
            <a:solidFill>
              <a:srgbClr val="454C3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Accuracy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Output Features</a:t>
            </a:r>
            <a:endParaRPr/>
          </a:p>
        </p:txBody>
      </p:sp>
      <p:sp>
        <p:nvSpPr>
          <p:cNvPr id="172" name="Google Shape;172;p1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900">
                <a:latin typeface="Times New Roman"/>
                <a:ea typeface="Times New Roman"/>
                <a:cs typeface="Times New Roman"/>
                <a:sym typeface="Times New Roman"/>
              </a:rPr>
              <a:t>The system provides multi-layered outputs:</a:t>
            </a:r>
            <a:endParaRPr b="1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Font typeface="Times New Roman"/>
              <a:buChar char="➢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Overall risk prediction (4-level classification)</a:t>
            </a:r>
            <a:b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Confidence score from probabilistic model output</a:t>
            </a:r>
            <a:b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 Psychological domain analysis: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➢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Emotional health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➢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Social wellbeing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➢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Stress resilience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➢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Future outlook</a:t>
            </a:r>
            <a:b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Actionable recommendations tailored to risk level</a:t>
            </a:r>
            <a:b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 Regional mental health support information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54dfcd834_0_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Real World Impact</a:t>
            </a:r>
            <a:endParaRPr/>
          </a:p>
        </p:txBody>
      </p:sp>
      <p:sp>
        <p:nvSpPr>
          <p:cNvPr id="178" name="Google Shape;178;g3d54dfcd834_0_1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Font typeface="Times New Roman"/>
              <a:buChar char="➢"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Enables early identification of mental health risks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➢"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Can be applied in: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Educational institutions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Corporate HR systems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Counseling platforms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➢"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Supports preventive mental healthcare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➢"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Encourages early intervention before critical escalation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54dfcd834_0_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Limitations And Future Work</a:t>
            </a:r>
            <a:endParaRPr/>
          </a:p>
        </p:txBody>
      </p:sp>
      <p:sp>
        <p:nvSpPr>
          <p:cNvPr id="184" name="Google Shape;184;g3d54dfcd834_0_24"/>
          <p:cNvSpPr txBox="1"/>
          <p:nvPr>
            <p:ph idx="1" type="body"/>
          </p:nvPr>
        </p:nvSpPr>
        <p:spPr>
          <a:xfrm>
            <a:off x="838200" y="1690825"/>
            <a:ext cx="10515600" cy="46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Limitations:</a:t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Times New Roman"/>
              <a:buChar char="➢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Integration of two heterogeneous datasets may introduce distribution inconsistencies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➢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Demographic survey data is self-reported and subjective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➢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Clinical dataset is reliable, but feature alignment across datasets may affect consistency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➢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Model is not a clinical diagnostic system, only a predictive tool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➢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Limited real-world validation on large-scale clinical populations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Future Work:</a:t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Times New Roman"/>
              <a:buChar char="➢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Integration of deep learning models for improved accuracy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➢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Real-time mental health tracking system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➢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Mobile application development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➢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Inclusion of textual sentiment analysis (NLP-based input)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➢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Expansion with clinical-grade datasets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54dfcd834_0_2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</p:txBody>
      </p:sp>
      <p:sp>
        <p:nvSpPr>
          <p:cNvPr id="190" name="Google Shape;190;g3d54dfcd834_0_2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This project successfully demonstrates an end-to-end implementation of a machine learning-based mental health risk prediction system that integrates data preprocessing, feature engineering, model training, and real-time deployment through a Flask web application.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900"/>
              <a:buFont typeface="Times New Roman"/>
              <a:buChar char="➢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Developed a complete ML + Web-based predictive system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➢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Successfully classifies mental health risk levels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➢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Provides interpretable and actionable insights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➢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Demonstrates practical application of machine learning in healthcare analytics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d54dfcd834_0_38"/>
          <p:cNvSpPr txBox="1"/>
          <p:nvPr>
            <p:ph idx="1" type="body"/>
          </p:nvPr>
        </p:nvSpPr>
        <p:spPr>
          <a:xfrm>
            <a:off x="192275" y="28438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7160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3900"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  <a:endParaRPr b="1" sz="4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easons in Sage Design Template">
  <a:themeElements>
    <a:clrScheme name="Paper">
      <a:dk1>
        <a:srgbClr val="000000"/>
      </a:dk1>
      <a:lt1>
        <a:srgbClr val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Paper">
      <a:dk1>
        <a:srgbClr val="000000"/>
      </a:dk1>
      <a:lt1>
        <a:srgbClr val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